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0"/>
  </p:notesMasterIdLst>
  <p:handoutMasterIdLst>
    <p:handoutMasterId r:id="rId31"/>
  </p:handoutMasterIdLst>
  <p:sldIdLst>
    <p:sldId id="338" r:id="rId5"/>
    <p:sldId id="327" r:id="rId6"/>
    <p:sldId id="315" r:id="rId7"/>
    <p:sldId id="329" r:id="rId8"/>
    <p:sldId id="30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61" r:id="rId26"/>
    <p:sldId id="360" r:id="rId27"/>
    <p:sldId id="362" r:id="rId28"/>
    <p:sldId id="30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95" d="100"/>
          <a:sy n="95" d="100"/>
        </p:scale>
        <p:origin x="-110" y="-38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4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9629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Car Market Trends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6312871" y="3256384"/>
            <a:ext cx="31763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     AICTE </a:t>
            </a:r>
            <a:r>
              <a:rPr lang="en-US" b="1" dirty="0"/>
              <a:t>STU ID </a:t>
            </a:r>
            <a:r>
              <a:rPr lang="en-US" b="1" dirty="0" smtClean="0"/>
              <a:t>:  </a:t>
            </a:r>
            <a:r>
              <a:rPr lang="en-US" sz="1600" b="1" dirty="0" smtClean="0">
                <a:solidFill>
                  <a:prstClr val="black"/>
                </a:solidFill>
              </a:rPr>
              <a:t>STU6a6aca966acaf1785383574 </a:t>
            </a:r>
            <a:endParaRPr lang="en-US" sz="16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b="0" dirty="0" smtClean="0">
                <a:solidFill>
                  <a:schemeClr val="tx1"/>
                </a:solidFill>
              </a:rPr>
              <a:t>By </a:t>
            </a:r>
            <a:r>
              <a:rPr lang="en-IN" dirty="0" err="1" smtClean="0">
                <a:solidFill>
                  <a:schemeClr val="tx1"/>
                </a:solidFill>
              </a:rPr>
              <a:t>Chitranjan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err="1" smtClean="0">
                <a:solidFill>
                  <a:schemeClr val="tx1"/>
                </a:solidFill>
              </a:rPr>
              <a:t>Vishwakarma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1700"/>
              <a:t>Buyers and sellers of used cars/bikes can't easily judge if a listed price is fair for its age, mileage, brand, and condition.</a:t>
            </a:r>
            <a:endParaRPr lang="en-IN" sz="2800" dirty="0"/>
          </a:p>
          <a:p>
            <a:pPr>
              <a:lnSpc>
                <a:spcPct val="150000"/>
              </a:lnSpc>
            </a:pPr>
            <a:r>
              <a:rPr sz="1700"/>
              <a:t>Raw marketplace data (like CarDekho's listings) mixes cars and bikes with no vehicle-type label, hiding depreciation and pricing trends.</a:t>
            </a:r>
          </a:p>
          <a:p>
            <a:pPr>
              <a:lnSpc>
                <a:spcPct val="150000"/>
              </a:lnSpc>
            </a:pPr>
            <a:r>
              <a:rPr sz="1700"/>
              <a:t>This project analyzes 301 real listings (2003–2018) to answer 25 questions on pricing, depreciation, and “good deal” detection.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400000"/>
            <a:ext cx="9500000" cy="4800000"/>
          </a:xfrm>
        </p:spPr>
        <p:txBody>
          <a:bodyPr wrap="square">
            <a:normAutofit/>
          </a:bodyPr>
          <a:lstStyle/>
          <a:p>
            <a:r>
              <a:rPr lang="en-GB" dirty="0"/>
              <a:t>Project </a:t>
            </a:r>
            <a:r>
              <a:rPr lang="en-GB" dirty="0" smtClean="0"/>
              <a:t>Description </a:t>
            </a:r>
            <a:r>
              <a:rPr lang="en-GB" dirty="0"/>
              <a:t/>
            </a:r>
            <a:br>
              <a:rPr lang="en-GB" dirty="0"/>
            </a:br>
            <a:r>
              <a:rPr lang="en-GB" sz="1800" b="0" dirty="0"/>
              <a:t>Using Python (pandas, NumPy, Matplotlib, Seaborn) in a Jupyter Notebook, I cleaned and explored 301 used-vehicle listings from CarDekho. I classified every listing as a car or two-wheeler, engineered features such as vehicle age and price depreciation, and answered 25 structured questions covering price ranges, most-sold models, brand-wise depreciation, and the factors (age, mileage, fuel type, transmission) that affect resale value. I also built a simple linear-regression “expected price” model to flag specific cars and bikes whose selling price notably exceeded market expectations, and the likely reasons why.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sz="2000"/>
              <a:t>Individual buyers checking whether an asking price is fair for a vehicle's age and mileage</a:t>
            </a:r>
            <a:endParaRPr lang="en-IN" sz="3600" dirty="0"/>
          </a:p>
          <a:p>
            <a:pPr algn="just">
              <a:lnSpc>
                <a:spcPct val="150000"/>
              </a:lnSpc>
            </a:pPr>
            <a:r>
              <a:rPr sz="2000"/>
              <a:t>Individual sellers deciding how to price their car or bike before listing it</a:t>
            </a:r>
          </a:p>
          <a:p>
            <a:pPr algn="just">
              <a:lnSpc>
                <a:spcPct val="150000"/>
              </a:lnSpc>
            </a:pPr>
            <a:r>
              <a:rPr sz="2000"/>
              <a:t>Dealerships benchmarking their inventory pricing against the wider market</a:t>
            </a:r>
          </a:p>
          <a:p>
            <a:pPr algn="just">
              <a:lnSpc>
                <a:spcPct val="150000"/>
              </a:lnSpc>
            </a:pPr>
            <a:r>
              <a:rPr sz="2000"/>
              <a:t>Marketplaces like CarDekho building pricing and insight features for users</a:t>
            </a:r>
          </a:p>
          <a:p>
            <a:pPr algn="just">
              <a:lnSpc>
                <a:spcPct val="150000"/>
              </a:lnSpc>
            </a:pPr>
            <a:r>
              <a:rPr sz="2000"/>
              <a:t>Data analytics students studying a real-world exploratory data analysis workflow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6800" y="1315059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sz="2200" dirty="0"/>
              <a:t>Python 3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sz="2200" dirty="0"/>
              <a:t>pandas &amp; </a:t>
            </a:r>
            <a:r>
              <a:rPr sz="2200" dirty="0" err="1"/>
              <a:t>NumPy</a:t>
            </a:r>
            <a:r>
              <a:rPr sz="2200" dirty="0"/>
              <a:t> — data cleaning, feature engineering</a:t>
            </a:r>
          </a:p>
          <a:p>
            <a:pPr lvl="1">
              <a:lnSpc>
                <a:spcPct val="150000"/>
              </a:lnSpc>
            </a:pPr>
            <a:r>
              <a:rPr sz="2200" dirty="0" err="1"/>
              <a:t>Matplotlib</a:t>
            </a:r>
            <a:r>
              <a:rPr sz="2200" dirty="0"/>
              <a:t> &amp; </a:t>
            </a:r>
            <a:r>
              <a:rPr sz="2200" dirty="0" err="1"/>
              <a:t>Seaborn</a:t>
            </a:r>
            <a:r>
              <a:rPr sz="2200" dirty="0"/>
              <a:t> — data visualization</a:t>
            </a:r>
          </a:p>
          <a:p>
            <a:pPr lvl="1">
              <a:lnSpc>
                <a:spcPct val="150000"/>
              </a:lnSpc>
            </a:pPr>
            <a:r>
              <a:rPr sz="2200" dirty="0" err="1"/>
              <a:t>NumPy</a:t>
            </a:r>
            <a:r>
              <a:rPr sz="2200" dirty="0"/>
              <a:t> linear regression (least squares) — “expected price” deal detection</a:t>
            </a:r>
          </a:p>
          <a:p>
            <a:pPr lvl="1">
              <a:lnSpc>
                <a:spcPct val="150000"/>
              </a:lnSpc>
            </a:pPr>
            <a:r>
              <a:rPr sz="2200" dirty="0" err="1"/>
              <a:t>Jupyter</a:t>
            </a:r>
            <a:r>
              <a:rPr sz="2200" dirty="0"/>
              <a:t> Notebook — analysis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75957" y="1275371"/>
            <a:ext cx="8644506" cy="4462072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1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77642" y="1339516"/>
            <a:ext cx="8626779" cy="4555958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7937" y="1379621"/>
            <a:ext cx="8382000" cy="445970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5958" y="1275371"/>
            <a:ext cx="8534400" cy="457999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7937" y="1347536"/>
            <a:ext cx="8566484" cy="400250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3978" y="1275371"/>
            <a:ext cx="8510337" cy="445168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75371"/>
            <a:ext cx="8510337" cy="445168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75371"/>
            <a:ext cx="8510337" cy="424311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75371"/>
            <a:ext cx="8510337" cy="445168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9" y="1608410"/>
            <a:ext cx="8534400" cy="363735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83669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2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3978" y="1203158"/>
            <a:ext cx="8510337" cy="46602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0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purl.org/dc/elements/1.1/"/>
    <ds:schemaRef ds:uri="16c05727-aa75-4e4a-9b5f-8a80a1165891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702</TotalTime>
  <Words>273</Words>
  <Application>Microsoft Office PowerPoint</Application>
  <PresentationFormat>Custom</PresentationFormat>
  <Paragraphs>62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Facet</vt:lpstr>
      <vt:lpstr>Car Market Trends Analysis</vt:lpstr>
      <vt:lpstr>PROBLEM  STATEMENT</vt:lpstr>
      <vt:lpstr>Project Description  Using Python (pandas, NumPy, Matplotlib, Seaborn) in a Jupyter Notebook, I cleaned and explored 301 used-vehicle listings from CarDekho. I classified every listing as a car or two-wheeler, engineered features such as vehicle age and price depreciation, and answered 25 structured questions covering price ranges, most-sold models, brand-wise depreciation, and the factors (age, mileage, fuel type, transmission) that affect resale value. I also built a simple linear-regression “expected price” model to flag specific cars and bikes whose selling price notably exceeded market expectations, and the likely reasons why.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Neeraj Patel</cp:lastModifiedBy>
  <cp:revision>85</cp:revision>
  <dcterms:created xsi:type="dcterms:W3CDTF">2021-07-11T13:13:15Z</dcterms:created>
  <dcterms:modified xsi:type="dcterms:W3CDTF">2026-08-30T06:40:43Z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